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8E752-6F08-91EF-5B8E-A1DB10BEC957}" v="308" dt="2024-11-23T17:45:03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4267" y="385763"/>
            <a:ext cx="11116733" cy="71120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chemeClr val="bg1"/>
                </a:solidFill>
                <a:ea typeface="+mj-lt"/>
                <a:cs typeface="+mj-lt"/>
              </a:rPr>
              <a:t>Type</a:t>
            </a:r>
            <a:r>
              <a:rPr lang="zh-CN" altLang="en-US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zh-CN" altLang="en-US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ea typeface="+mj-lt"/>
                <a:cs typeface="+mj-lt"/>
              </a:rPr>
              <a:t>program</a:t>
            </a:r>
            <a:endParaRPr lang="zh-CN" b="1" dirty="0">
              <a:solidFill>
                <a:schemeClr val="bg1"/>
              </a:solidFill>
            </a:endParaRPr>
          </a:p>
        </p:txBody>
      </p:sp>
      <p:pic>
        <p:nvPicPr>
          <p:cNvPr id="4" name="图片 3" descr="图标&#10;&#10;已自动生成说明">
            <a:extLst>
              <a:ext uri="{FF2B5EF4-FFF2-40B4-BE49-F238E27FC236}">
                <a16:creationId xmlns:a16="http://schemas.microsoft.com/office/drawing/2014/main" id="{0A2C86A1-B7F4-2294-4D1D-CA4525558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16" y="1097118"/>
            <a:ext cx="7961831" cy="16442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9B5C594-AE36-4D35-C24E-2B567A27456D}"/>
              </a:ext>
            </a:extLst>
          </p:cNvPr>
          <p:cNvSpPr txBox="1"/>
          <p:nvPr/>
        </p:nvSpPr>
        <p:spPr>
          <a:xfrm>
            <a:off x="932639" y="3064937"/>
            <a:ext cx="1044062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I think we should keep more</a:t>
            </a:r>
            <a:r>
              <a:rPr lang="zh-CN" sz="2000">
                <a:latin typeface="Segoe UI"/>
                <a:ea typeface="宋体"/>
                <a:cs typeface="Segoe UI"/>
              </a:rPr>
              <a:t> </a:t>
            </a:r>
            <a:r>
              <a:rPr lang="zh-CN" sz="2000" b="1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comedies, science fictions, and reality shows</a:t>
            </a:r>
            <a:br>
              <a:rPr lang="zh-CN" sz="2000" b="1" dirty="0">
                <a:solidFill>
                  <a:srgbClr val="FFFF00"/>
                </a:solidFill>
                <a:latin typeface="Segoe UI"/>
                <a:cs typeface="Segoe UI"/>
              </a:rPr>
            </a:br>
            <a:br>
              <a:rPr lang="zh-CN" sz="2000" dirty="0">
                <a:latin typeface="Segoe UI"/>
                <a:cs typeface="Segoe UI"/>
              </a:rPr>
            </a:b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in terms of program types because these three categories are the most popular in terms of</a:t>
            </a:r>
            <a:br>
              <a:rPr lang="zh-CN" sz="2000" dirty="0">
                <a:solidFill>
                  <a:schemeClr val="bg1"/>
                </a:solidFill>
                <a:latin typeface="Segoe UI"/>
                <a:cs typeface="Segoe UI"/>
              </a:rPr>
            </a:br>
            <a:br>
              <a:rPr lang="zh-CN" sz="20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popularity of the top programs</a:t>
            </a:r>
            <a:endParaRPr lang="zh-CN" sz="2000">
              <a:solidFill>
                <a:schemeClr val="bg1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2418E-26F5-A2BE-6135-520B7A65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181" y="365125"/>
            <a:ext cx="7175619" cy="1339805"/>
          </a:xfrm>
        </p:spPr>
        <p:txBody>
          <a:bodyPr/>
          <a:lstStyle/>
          <a:p>
            <a:r>
              <a:rPr lang="zh-CN">
                <a:solidFill>
                  <a:schemeClr val="bg1"/>
                </a:solidFill>
                <a:ea typeface="+mj-lt"/>
                <a:cs typeface="+mj-lt"/>
              </a:rPr>
              <a:t>Select Program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9C3AB-65CA-467E-D906-151E95155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952"/>
            <a:ext cx="10515600" cy="45080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from the perspective of programs, I think </a:t>
            </a:r>
            <a:r>
              <a:rPr lang="zh-CN" sz="20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Canterbury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, </a:t>
            </a:r>
            <a:r>
              <a:rPr lang="zh-CN" sz="20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Secrets of a Man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, and</a:t>
            </a:r>
            <a:br>
              <a:rPr lang="zh-CN" sz="2000" dirty="0">
                <a:latin typeface="Segoe UI"/>
                <a:cs typeface="Segoe UI"/>
              </a:rPr>
            </a:br>
            <a:br>
              <a:rPr lang="zh-CN" sz="2000" dirty="0">
                <a:latin typeface="Segoe UI"/>
                <a:cs typeface="Segoe UI"/>
              </a:rPr>
            </a:br>
            <a:r>
              <a:rPr lang="zh-CN" sz="20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two series about family business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 must be kept</a:t>
            </a:r>
            <a:endParaRPr lang="zh-CN" altLang="en-US" sz="2000">
              <a:solidFill>
                <a:schemeClr val="bg1"/>
              </a:solidFill>
              <a:ea typeface="宋体"/>
            </a:endParaRPr>
          </a:p>
        </p:txBody>
      </p:sp>
      <p:pic>
        <p:nvPicPr>
          <p:cNvPr id="5" name="图片 4" descr="图形用户界面, 文本, 应用程序&#10;&#10;已自动生成说明">
            <a:extLst>
              <a:ext uri="{FF2B5EF4-FFF2-40B4-BE49-F238E27FC236}">
                <a16:creationId xmlns:a16="http://schemas.microsoft.com/office/drawing/2014/main" id="{5153B6C6-ACD5-BB53-A5A2-D135D2ADA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87" y="2972156"/>
            <a:ext cx="3525979" cy="3046576"/>
          </a:xfrm>
          <a:prstGeom prst="rect">
            <a:avLst/>
          </a:prstGeom>
        </p:spPr>
      </p:pic>
      <p:pic>
        <p:nvPicPr>
          <p:cNvPr id="6" name="图片 5" descr="图形用户界面, 文本, 应用程序&#10;&#10;已自动生成说明">
            <a:extLst>
              <a:ext uri="{FF2B5EF4-FFF2-40B4-BE49-F238E27FC236}">
                <a16:creationId xmlns:a16="http://schemas.microsoft.com/office/drawing/2014/main" id="{82047FAA-5CD1-D1D0-C4AE-F4ED3D324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598" y="2970374"/>
            <a:ext cx="3746226" cy="3032334"/>
          </a:xfrm>
          <a:prstGeom prst="rect">
            <a:avLst/>
          </a:prstGeom>
        </p:spPr>
      </p:pic>
      <p:pic>
        <p:nvPicPr>
          <p:cNvPr id="7" name="图片 6" descr="图形用户界面, 文本, 应用程序&#10;&#10;已自动生成说明">
            <a:extLst>
              <a:ext uri="{FF2B5EF4-FFF2-40B4-BE49-F238E27FC236}">
                <a16:creationId xmlns:a16="http://schemas.microsoft.com/office/drawing/2014/main" id="{6160EFD6-BC9E-B776-B876-E514D975F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499" y="2964064"/>
            <a:ext cx="3588977" cy="303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5264F-49C7-8C83-BC25-D22F365D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3849"/>
          </a:xfrm>
        </p:spPr>
        <p:txBody>
          <a:bodyPr/>
          <a:lstStyle/>
          <a:p>
            <a:r>
              <a:rPr lang="zh-CN">
                <a:solidFill>
                  <a:schemeClr val="bg1"/>
                </a:solidFill>
                <a:ea typeface="+mj-lt"/>
                <a:cs typeface="+mj-lt"/>
              </a:rPr>
              <a:t>Reasons to choose Canterbury</a:t>
            </a:r>
            <a:endParaRPr lang="zh-CN">
              <a:solidFill>
                <a:schemeClr val="bg1"/>
              </a:solidFill>
            </a:endParaRPr>
          </a:p>
        </p:txBody>
      </p:sp>
      <p:pic>
        <p:nvPicPr>
          <p:cNvPr id="4" name="内容占位符 3" descr="图片包含 图形用户界面&#10;&#10;已自动生成说明">
            <a:extLst>
              <a:ext uri="{FF2B5EF4-FFF2-40B4-BE49-F238E27FC236}">
                <a16:creationId xmlns:a16="http://schemas.microsoft.com/office/drawing/2014/main" id="{8EB4AA12-BAD6-A800-2CB2-1C8AAB1E7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571" y="1223395"/>
            <a:ext cx="10340411" cy="1004957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2EE4A78-397F-8849-0B07-035E5D0F9CD9}"/>
              </a:ext>
            </a:extLst>
          </p:cNvPr>
          <p:cNvSpPr txBox="1"/>
          <p:nvPr/>
        </p:nvSpPr>
        <p:spPr>
          <a:xfrm>
            <a:off x="836534" y="2741046"/>
            <a:ext cx="1061072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The reason for keeping Canterbury is that it is </a:t>
            </a:r>
            <a:r>
              <a:rPr lang="zh-CN">
                <a:solidFill>
                  <a:srgbClr val="FFFF00"/>
                </a:solidFill>
                <a:ea typeface="+mn-lt"/>
                <a:cs typeface="+mn-lt"/>
              </a:rPr>
              <a:t>extremely popular </a:t>
            </a: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in all age groups, with</a:t>
            </a: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18-49 being the most popular and 50-64 being the second. Although the production cost of</a:t>
            </a: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this program is very high, the extremely high audience rate also corresponds to an</a:t>
            </a: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extremely high box office total, and it can also serve as the theater's iconic program. After</a:t>
            </a: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zh-CN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calculation, we know that if the ticket price is </a:t>
            </a:r>
            <a:r>
              <a:rPr lang="zh-CN">
                <a:solidFill>
                  <a:srgbClr val="FFFF00"/>
                </a:solidFill>
                <a:ea typeface="+mn-lt"/>
                <a:cs typeface="+mn-lt"/>
              </a:rPr>
              <a:t>3 yuan</a:t>
            </a: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, the investment cost </a:t>
            </a:r>
            <a:r>
              <a:rPr lang="zh-CN">
                <a:solidFill>
                  <a:srgbClr val="FFFF00"/>
                </a:solidFill>
                <a:ea typeface="+mn-lt"/>
                <a:cs typeface="+mn-lt"/>
              </a:rPr>
              <a:t>can be earned</a:t>
            </a:r>
            <a:br>
              <a:rPr lang="zh-CN" dirty="0">
                <a:solidFill>
                  <a:srgbClr val="FFFF00"/>
                </a:solidFill>
                <a:ea typeface="+mn-lt"/>
                <a:cs typeface="+mn-lt"/>
              </a:rPr>
            </a:br>
            <a:br>
              <a:rPr lang="zh-CN" dirty="0">
                <a:solidFill>
                  <a:srgbClr val="FFFF00"/>
                </a:solidFill>
                <a:ea typeface="+mn-lt"/>
                <a:cs typeface="+mn-lt"/>
              </a:rPr>
            </a:br>
            <a:r>
              <a:rPr lang="zh-CN">
                <a:solidFill>
                  <a:srgbClr val="FFFF00"/>
                </a:solidFill>
                <a:ea typeface="+mn-lt"/>
                <a:cs typeface="+mn-lt"/>
              </a:rPr>
              <a:t>back</a:t>
            </a:r>
            <a:r>
              <a:rPr lang="zh-CN">
                <a:solidFill>
                  <a:schemeClr val="bg1"/>
                </a:solidFill>
                <a:ea typeface="+mn-lt"/>
                <a:cs typeface="+mn-lt"/>
              </a:rPr>
              <a:t>, so this program must be a highly profitable project.</a:t>
            </a:r>
            <a:endParaRPr lang="zh-CN">
              <a:solidFill>
                <a:schemeClr val="bg1"/>
              </a:solidFill>
            </a:endParaRPr>
          </a:p>
          <a:p>
            <a:pPr algn="ctr"/>
            <a:br>
              <a:rPr lang="en-US" altLang="zh-CN" dirty="0"/>
            </a:br>
            <a:endParaRPr lang="en-US" altLang="zh-CN" dirty="0"/>
          </a:p>
          <a:p>
            <a:pPr algn="l"/>
            <a:endParaRPr lang="zh-CN" altLang="en-US" dirty="0"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20319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01C19-8BD8-D996-F6FA-2A05A938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ea typeface="+mj-lt"/>
                <a:cs typeface="+mj-lt"/>
              </a:rPr>
              <a:t>R</a:t>
            </a:r>
            <a:r>
              <a:rPr lang="zh-CN" sz="4000">
                <a:solidFill>
                  <a:schemeClr val="bg1"/>
                </a:solidFill>
                <a:ea typeface="+mj-lt"/>
                <a:cs typeface="+mj-lt"/>
              </a:rPr>
              <a:t>eason for choosing Secret of a Man</a:t>
            </a:r>
            <a:endParaRPr lang="zh-CN" sz="4000">
              <a:solidFill>
                <a:schemeClr val="bg1"/>
              </a:solidFill>
            </a:endParaRPr>
          </a:p>
        </p:txBody>
      </p:sp>
      <p:pic>
        <p:nvPicPr>
          <p:cNvPr id="4" name="内容占位符 3" descr="图片包含 图形用户界面&#10;&#10;已自动生成说明">
            <a:extLst>
              <a:ext uri="{FF2B5EF4-FFF2-40B4-BE49-F238E27FC236}">
                <a16:creationId xmlns:a16="http://schemas.microsoft.com/office/drawing/2014/main" id="{8418FFDD-A6D4-D80D-EF19-FCBA11820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36" y="1572488"/>
            <a:ext cx="9934485" cy="1083218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9759A8-6195-E168-60BA-6CDC618CF18E}"/>
              </a:ext>
            </a:extLst>
          </p:cNvPr>
          <p:cNvSpPr txBox="1"/>
          <p:nvPr/>
        </p:nvSpPr>
        <p:spPr>
          <a:xfrm>
            <a:off x="822292" y="3052449"/>
            <a:ext cx="1000455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The reason for choosing Secret of a Man is that although its audience is far behind</a:t>
            </a:r>
            <a:br>
              <a:rPr lang="zh-CN" sz="2000" dirty="0">
                <a:latin typeface="Segoe UI"/>
                <a:cs typeface="Segoe UI"/>
              </a:rPr>
            </a:br>
            <a:br>
              <a:rPr lang="zh-CN" sz="2000" dirty="0">
                <a:latin typeface="Segoe UI"/>
                <a:cs typeface="Segoe UI"/>
              </a:rPr>
            </a:b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Canterbury, it is still </a:t>
            </a:r>
            <a:r>
              <a:rPr lang="zh-CN" sz="20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ranked second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, and its production cost is </a:t>
            </a:r>
            <a:r>
              <a:rPr lang="zh-CN" sz="20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ranked 38th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, which is a </a:t>
            </a:r>
            <a:endParaRPr lang="zh-CN" altLang="en-US" sz="2000">
              <a:solidFill>
                <a:schemeClr val="bg1"/>
              </a:solidFill>
              <a:latin typeface="Aptos" panose="020B0004020202020204"/>
              <a:ea typeface="宋体"/>
              <a:cs typeface="Segoe UI"/>
            </a:endParaRPr>
          </a:p>
          <a:p>
            <a:endParaRPr lang="zh-CN" altLang="en-US" sz="2000" dirty="0">
              <a:solidFill>
                <a:schemeClr val="bg1"/>
              </a:solidFill>
              <a:latin typeface="Segoe UI"/>
              <a:ea typeface="宋体"/>
              <a:cs typeface="Segoe UI"/>
            </a:endParaRPr>
          </a:p>
          <a:p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low-investment and </a:t>
            </a:r>
            <a:r>
              <a:rPr lang="zh-CN" sz="20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high-return work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. It can make a profit through this program </a:t>
            </a:r>
            <a:endParaRPr lang="zh-CN" altLang="en-US" sz="2000">
              <a:solidFill>
                <a:schemeClr val="bg1"/>
              </a:solidFill>
              <a:latin typeface="Aptos" panose="020B0004020202020204"/>
              <a:ea typeface="宋体"/>
              <a:cs typeface="Segoe UI"/>
            </a:endParaRPr>
          </a:p>
          <a:p>
            <a:endParaRPr lang="zh-CN" altLang="en-US" sz="2000" dirty="0">
              <a:solidFill>
                <a:schemeClr val="bg1"/>
              </a:solidFill>
              <a:latin typeface="Segoe UI"/>
              <a:ea typeface="宋体"/>
              <a:cs typeface="Segoe UI"/>
            </a:endParaRPr>
          </a:p>
          <a:p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without losing</a:t>
            </a:r>
            <a:r>
              <a:rPr lang="zh-CN" altLang="en-US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 </a:t>
            </a:r>
            <a:r>
              <a:rPr lang="zh-CN" sz="20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customer traffic.</a:t>
            </a:r>
            <a:endParaRPr lang="zh-CN" sz="2000">
              <a:solidFill>
                <a:schemeClr val="bg1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04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ADADC-84BA-39AE-E488-F60943E2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sz="4000">
                <a:solidFill>
                  <a:schemeClr val="bg1"/>
                </a:solidFill>
                <a:ea typeface="+mj-lt"/>
                <a:cs typeface="+mj-lt"/>
              </a:rPr>
              <a:t>Reasons to choose the family business series</a:t>
            </a:r>
            <a:endParaRPr lang="zh-CN" sz="4000">
              <a:solidFill>
                <a:schemeClr val="bg1"/>
              </a:solidFill>
            </a:endParaRPr>
          </a:p>
        </p:txBody>
      </p:sp>
      <p:pic>
        <p:nvPicPr>
          <p:cNvPr id="4" name="内容占位符 3" descr="图表, 表格&#10;&#10;已自动生成说明">
            <a:extLst>
              <a:ext uri="{FF2B5EF4-FFF2-40B4-BE49-F238E27FC236}">
                <a16:creationId xmlns:a16="http://schemas.microsoft.com/office/drawing/2014/main" id="{626A8918-00A0-D70B-2BBD-AE260219C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761" y="1915408"/>
            <a:ext cx="5565974" cy="4114800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741DBB9-4369-5B85-933A-E03256084905}"/>
              </a:ext>
            </a:extLst>
          </p:cNvPr>
          <p:cNvSpPr txBox="1"/>
          <p:nvPr/>
        </p:nvSpPr>
        <p:spPr>
          <a:xfrm>
            <a:off x="6377255" y="2048754"/>
            <a:ext cx="5307523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Similar to Family Business: Auctioneers, it is in a similar situation, with the audience</a:t>
            </a:r>
            <a:br>
              <a:rPr lang="zh-CN" sz="2200" dirty="0">
                <a:latin typeface="Segoe UI"/>
                <a:cs typeface="Segoe UI"/>
              </a:rPr>
            </a:br>
            <a:r>
              <a:rPr lang="zh-CN" sz="2200" dirty="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rate </a:t>
            </a:r>
            <a:r>
              <a:rPr lang="zh-CN" sz="2200" dirty="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ranked seventh</a:t>
            </a:r>
            <a:r>
              <a:rPr lang="zh-CN" sz="2200" dirty="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, the production cost </a:t>
            </a:r>
            <a:endParaRPr lang="zh-CN" altLang="en-US" sz="2200">
              <a:solidFill>
                <a:schemeClr val="bg1"/>
              </a:solidFill>
              <a:latin typeface="Aptos" panose="020B0004020202020204"/>
              <a:ea typeface="宋体"/>
              <a:cs typeface="Segoe UI"/>
            </a:endParaRPr>
          </a:p>
          <a:p>
            <a:r>
              <a:rPr lang="zh-CN" sz="22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ranked 68</a:t>
            </a:r>
            <a:r>
              <a:rPr lang="zh-CN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, and it is also a very popular reality</a:t>
            </a:r>
            <a:r>
              <a:rPr lang="zh-CN" altLang="en-US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 </a:t>
            </a:r>
            <a:r>
              <a:rPr lang="zh-CN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film, which is a good choice. It seems that it is a series about family business with Family</a:t>
            </a:r>
            <a:r>
              <a:rPr lang="zh-CN" altLang="en-US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 </a:t>
            </a:r>
            <a:r>
              <a:rPr lang="zh-CN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Business:</a:t>
            </a:r>
            <a:r>
              <a:rPr lang="zh-CN" altLang="en-US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 </a:t>
            </a:r>
            <a:r>
              <a:rPr lang="zh-CN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Mixologists, which can better retain</a:t>
            </a:r>
            <a:r>
              <a:rPr lang="zh-CN" altLang="en-US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 </a:t>
            </a:r>
            <a:r>
              <a:rPr lang="zh-CN" sz="2200">
                <a:solidFill>
                  <a:schemeClr val="bg1"/>
                </a:solidFill>
                <a:latin typeface="Segoe UI"/>
                <a:ea typeface="宋体"/>
                <a:cs typeface="Segoe UI"/>
              </a:rPr>
              <a:t>long-term guests. And this </a:t>
            </a:r>
            <a:r>
              <a:rPr lang="zh-CN" sz="22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series is the most</a:t>
            </a:r>
            <a:endParaRPr lang="zh-CN" altLang="en-US" sz="2200">
              <a:solidFill>
                <a:srgbClr val="FFFF00"/>
              </a:solidFill>
              <a:latin typeface="Aptos" panose="020B0004020202020204"/>
              <a:ea typeface="宋体"/>
              <a:cs typeface="Segoe UI"/>
            </a:endParaRPr>
          </a:p>
          <a:p>
            <a:r>
              <a:rPr lang="zh-CN" sz="2200">
                <a:solidFill>
                  <a:srgbClr val="FFFF00"/>
                </a:solidFill>
                <a:latin typeface="Segoe UI"/>
                <a:ea typeface="宋体"/>
                <a:cs typeface="Segoe UI"/>
              </a:rPr>
              <a:t>popular among reality films</a:t>
            </a:r>
            <a:endParaRPr lang="zh-CN" sz="2200">
              <a:solidFill>
                <a:srgbClr val="FFFF00"/>
              </a:solidFill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01619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Type of program</vt:lpstr>
      <vt:lpstr>Select Program</vt:lpstr>
      <vt:lpstr>Reasons to choose Canterbury</vt:lpstr>
      <vt:lpstr>Reason for choosing Secret of a Man</vt:lpstr>
      <vt:lpstr>Reasons to choose the family business series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129</cp:revision>
  <dcterms:created xsi:type="dcterms:W3CDTF">2024-11-23T16:49:26Z</dcterms:created>
  <dcterms:modified xsi:type="dcterms:W3CDTF">2024-11-23T17:45:39Z</dcterms:modified>
</cp:coreProperties>
</file>